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il 1: Konzeption und Lebenszyklus" id="{ABD38F5E-FCE7-43D4-2EAD-A6314B293BA9}">
          <p14:sldIdLst>
            <p14:sldId id="256"/>
            <p14:sldId id="257"/>
            <p14:sldId id="258"/>
            <p14:sldId id="259"/>
          </p14:sldIdLst>
        </p14:section>
        <p14:section name="Teil 2: Daten und Bereinigung" id="{989C0555-6D75-1132-BA7A-507EB2B53392}">
          <p14:sldIdLst>
            <p14:sldId id="260"/>
            <p14:sldId id="261"/>
            <p14:sldId id="262"/>
          </p14:sldIdLst>
        </p14:section>
        <p14:section name="Teil 3: Ergebnisse" id="{C519E956-7640-74E5-C767-52EF6E23A1DB}">
          <p14:sldIdLst>
            <p14:sldId id="263"/>
            <p14:sldId id="264"/>
            <p14:sldId id="265"/>
            <p14:sldId id="266"/>
            <p14:sldId id="267"/>
          </p14:sldIdLst>
        </p14:section>
        <p14:section name="Reserve" id="{D9F91DDC-A6BA-75C2-D0C1-AB6A76ECAAED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68956"/>
  </p:normalViewPr>
  <p:slideViewPr>
    <p:cSldViewPr snapToGrid="0" snapToObjects="1">
      <p:cViewPr varScale="1">
        <p:scale>
          <a:sx n="81" d="100"/>
          <a:sy n="81" d="100"/>
        </p:scale>
        <p:origin x="19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2A4A"/>
                </a:solidFill>
                <a:latin typeface="+mn-lt"/>
              </a:defRPr>
            </a:pPr>
            <a:r>
              <a:rPr lang="de-CH" sz="1500" b="0" i="0" u="none" strike="noStrike">
                <a:solidFill>
                  <a:srgbClr val="0B2A4A"/>
                </a:solidFill>
                <a:latin typeface="+mn-lt"/>
              </a:rPr>
              <a:t>eBird-Meldungen in der Schweiz pro Jahr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eBird-Meldungen Schweiz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E2-EB4C-AAFB-8F6EF1A6FEFC}"/>
              </c:ext>
            </c:extLst>
          </c:dPt>
          <c:dPt>
            <c:idx val="1"/>
            <c:invertIfNegative val="0"/>
            <c:bubble3D val="0"/>
            <c:spPr>
              <a:solidFill>
                <a:srgbClr val="006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E2-EB4C-AAFB-8F6EF1A6FEF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2015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49000</c:v>
                </c:pt>
                <c:pt idx="1">
                  <c:v>401000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E2-EB4C-AAFB-8F6EF1A6FE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2A4A"/>
                </a:solidFill>
                <a:latin typeface="+mn-lt"/>
              </a:defRPr>
            </a:pPr>
            <a:r>
              <a:rPr lang="de-CH" sz="1500" b="0" i="0" u="none" strike="noStrike">
                <a:solidFill>
                  <a:srgbClr val="0B2A4A"/>
                </a:solidFill>
                <a:latin typeface="+mn-lt"/>
              </a:rPr>
              <a:t>Aggregation auf 5-km-Quadrate (Sekunden)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Aggregation (s)</c:v>
                </c:pt>
              </c:strCache>
            </c:strRef>
          </c:tx>
          <c:spPr>
            <a:solidFill>
              <a:srgbClr val="0064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247-F84C-BB7C-F4E5DFCF9F9D}"/>
              </c:ext>
            </c:extLst>
          </c:dPt>
          <c:dPt>
            <c:idx val="1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47-F84C-BB7C-F4E5DFCF9F9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DuckDB</c:v>
                </c:pt>
                <c:pt idx="1">
                  <c:v>SQLite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0.01</c:v>
                </c:pt>
                <c:pt idx="1">
                  <c:v>1.1299999999999999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47-F84C-BB7C-F4E5DFCF9F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2A4A"/>
                </a:solidFill>
                <a:latin typeface="+mn-lt"/>
              </a:defRPr>
            </a:pPr>
            <a:r>
              <a:rPr lang="de-CH" sz="1500" b="0" i="0" u="none" strike="noStrike">
                <a:solidFill>
                  <a:srgbClr val="0B2A4A"/>
                </a:solidFill>
                <a:latin typeface="+mn-lt"/>
              </a:rPr>
              <a:t>Dateigrösse der Datenbank (MB)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Dateigrösse (MB)</c:v>
                </c:pt>
              </c:strCache>
            </c:strRef>
          </c:tx>
          <c:spPr>
            <a:solidFill>
              <a:srgbClr val="0064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222-9441-A2CD-14AC54FF35E7}"/>
              </c:ext>
            </c:extLst>
          </c:dPt>
          <c:dPt>
            <c:idx val="1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22-9441-A2CD-14AC54FF35E7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DuckDB</c:v>
                </c:pt>
                <c:pt idx="1">
                  <c:v>SQLite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22-9441-A2CD-14AC54FF35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2A4A"/>
                </a:solidFill>
                <a:latin typeface="+mn-lt"/>
              </a:defRPr>
            </a:pPr>
            <a:r>
              <a:rPr lang="de-CH" sz="1500" b="0" i="0" u="none" strike="noStrike">
                <a:solidFill>
                  <a:srgbClr val="0B2A4A"/>
                </a:solidFill>
                <a:latin typeface="+mn-lt"/>
              </a:rPr>
              <a:t>Abdeckung nach letztem Brutjahr der Referenz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Abdeckung alle Plattformen (%)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F3-EA44-8645-AC087182940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EF3-EA44-8645-AC087182940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EF3-EA44-8645-AC0871829409}"/>
              </c:ext>
            </c:extLst>
          </c:dPt>
          <c:dPt>
            <c:idx val="3"/>
            <c:invertIfNegative val="0"/>
            <c:bubble3D val="0"/>
            <c:spPr>
              <a:solidFill>
                <a:srgbClr val="006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F3-EA44-8645-AC087182940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bis 1999</c:v>
                </c:pt>
                <c:pt idx="1">
                  <c:v>2000–2009</c:v>
                </c:pt>
                <c:pt idx="2">
                  <c:v>2010–2019</c:v>
                </c:pt>
                <c:pt idx="3">
                  <c:v>ab 2020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8.6</c:v>
                </c:pt>
                <c:pt idx="1">
                  <c:v>9.8000000000000007</c:v>
                </c:pt>
                <c:pt idx="2">
                  <c:v>17.7</c:v>
                </c:pt>
                <c:pt idx="3">
                  <c:v>45.8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EF3-EA44-8645-AC08718294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2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Thema in einem Satz: Wir vergleichen Plattformmeldungen mit den geprüften Brutnachweisen der Vogelwarte und fragen, ob die Landnutzung die Lücken erklärt
- Drei Teile à ca. 5 Minuten: Konzeption und Lebenszyklus, Daten und Bereinigung, Ergebnisse
ABKÜRZUNGEN
- HS26 = Herbstsemester 2026
- ZHAW = Zürcher Hochschule für Angewandte Wissenschaften
- CH = Schweiz
WEITERES / MÖGLICHE RÜCKFRAGEN
- Abgabe Teil 1: 27.10.2026, 23:59 Uhr über den Abgabe-Branch auf GitHub; Teil 2 folgt am 8.12.
- Kolloquium 15 Minuten Vortrag, 7 Minuten Diskussion im Plenum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Das Volumen wächst stark: eBird Schweiz von rund 49'000 Meldungen (2015) auf rund 401'000 (2024)
- Meldungen entstehen dort, wo Menschen hinkommen
- Wer die Daten für Karten, Trends oder Schutzentscheide nutzt, muss wissen, wo sie verlässlich sind
- Massstab: Brutvogeldatenbank der Vogelwarte, geprüft, aber nicht unabhängig
ABKÜRZUNGEN
- GBIF = Global Biodiversity Information Facility, Datenportal für Biodiversitätsdaten
- eBird = Plattform des Cornell Lab of Ornithology
- iNaturalist = Foto-basierte Beobachtungsplattform, Bestimmung durch die Community, hier nur Research-grade
- Observation.org = niederländische Beobachtungsplattform, Daten über GBIF
- ornitho.ch = Meldeplattform der Schweizerischen Vogelwarte Sempach
WEITERES / MÖGLICHE RÜCKFRAGEN
- Die Vogelwarte-Datenbank führt nur das letzte Brutjahr pro Art und Quadrat, keinen Zeitverlauf
- Beobachter können auf mehreren Plattformen aktiv sein, die Abdeckung wird dadurch tendenziell überschätzt
- Die Zahlen 2015 und 2024 stammen aus einer GBIF-Abfrage vom 13.10.2026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Abdeckungsquote erklären: Art in einem Quadrat abgedeckt, wenn die Vogelwarte dort einen Brutnachweis hat und eine Plattform sie 2020–2024 zwischen April und Juli im selben Quadrat meldet
- Zwei Forschungsfragen, drei Hypothesen, getestet auf Quadratebene (rund 1'600 Quadrate)
- Null-Ergebnisse sind zulässig
ABKÜRZUNGEN
- FF = Forschungsfrage, H = Hypothese
- Quadrat = 5×5-km-Quadrat im Schweizer Koordinatensystem LV95 (floor(E/5000), floor(N/5000))
- LV95 = Landesvermessung 1995, EPSG:2056
- Siedlung und unproduktive Fläche = Hauptklassen 1 und 4 der Arealstatistik (AS_4)
WEITERES / MÖGLICHE RÜCKFRAGEN
- Brutzeit April bis Juli ist eine Setzung und wird in einer Sensitivitätsanalyse variiert
- Eine Meldung in der Brutzeit ist kein Brutnachweis (Durchzügler, Gäste), die Abdeckung wird tendenziell überschätzt
- Unproduktiv = u. a. Gewässer, Fels, Gletscher, unproduktive Vegetation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Lebenszyklus nach Reis &amp; Housley (2022): Generierung, Ingestion, Storage, Transformation, Serving
- Daten sind begrenzt und kommen per Pull im Batch; Streaming oder Lambda wären nicht begründbar
- ETL, nicht ELT: DuckDB filtert beim Lesen der Roh-CSV, Raster, Artabgleich und Hashing laufen in Python (pandas, pyproj), erst danach wird in Parquet und DuckDB geladen. Die Rohdaten bleiben trotzdem unverändert
- Schwerpunkt der Arbeit ist die Transformation (gelb)
- Entscheid: priorisieren Reproduzierbarkeit, akzeptieren veraltete Daten, begrenzen das Risiko durch versionierte Rohdaten
ABKÜRZUNGEN
- ETL = Extract, Transform, Load (ELT: Transformation erst im Zielsystem)
- Bounded = begrenzter Datensatz, im Gegensatz zu unbegrenzten Datenströmen
- Pull = wir holen die Daten ab, die Quelle liefert nicht von sich aus
- DataOps = Automatisierung und Reproduzierbarkeit der Pipeline
- DOI = Digital Object Identifier
WEITERES / MÖGLICHE RÜCKFRAGEN
- Die sechs Unterströmungen (Security, Data Management, DataOps, Data Architecture, Orchestration, Software Engineering) gelten für alle Phasen
- Orchestration: run_all.sh führt alle Schritte in fester Reihenfolge aus und bricht ab, wenn eine Datenprüfung fehlschlägt; ein Orchestrator wie Airflow wäre bei diesem Volumen nicht begründbar
- Der Entscheid ist umkehrbar, jede Schicht lässt sich aus der vorherigen neu berechnen
- Skalierbarkeit (Reservefolie 14): Grenze ist der Arbeitsspeicher in der Transformation (pandas); nächster Schritt wäre Raster und Aggregation in DuckDB-SQL und Parquet nach Jahr partitioniert
- Hypothesentests gehören nach der Aufgabenstellung zur Transformation Teil 1, Serving im engeren Sinn folgt in Teil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Drei Quellen, alle ohne Schlüssel und per Pull: GBIF-Download, Darwin-Core-Archiv der Vogelwarte, Arealstatistik des BFS
- Die Vogelwarte-Daten kommen separat und ohne Jahresfilter, weil das Jahr dort das letzte Brutjahr ist
- Das Download-Skript schreibt Datum, URL, DOI und SHA-256-Prüfsumme ins Protokoll
ABKÜRZUNGEN
- DOI = Digital Object Identifier (Plattformdaten: 10.15468/dl.9qfxn7, Vogelwarte: 10.15468/jujcgr)
- CoL = Catalogue of Life, taxonomische Referenz des GBIF-Downloads
- Darwin Core (DwC-A) = Standardformat für Biodiversitätsdaten
- BFS = Bundesamt für Statistik, Arealstatistik Standardnomenklatur NOAS04
- AS_4 = vier Hauptklassen der Landnutzung (1 Siedlung, 2 Landwirtschaft, 3 bestockt, 4 unproduktiv)
- SHA-256 = Prüfsumme zur Kontrolle der Dateiintegrität
- CC BY / CC BY-NC = Creative-Commons-Lizenzen, NC = nur nicht kommerziell
WEITERES / MÖGLICHE RÜCKFRAGEN
- Quellenbewertung nach Vorlesung: Entstehung, Aktualisierung, Qualität, Struktur
- Der GBIF-Download enthält zusätzlich 87'741 Zeilen der Vogelwarte-Datenbank (nur Brutjahre ab 2020) und 94 Zeilen aus drei weiteren Datensätzen, beides wird über den Dataset-Key ausgeschlossen
- Fällt der GBIF-Download weg, bezieht ein Fallback die Daten über die Search-API (nicht byteidentisch)
- Arealstatistik: Hektarraster, Flugjahre 2013–2020, Landnutzung ist zeitlich gegenüber den Meldungen versetzt
- Observation.org und Teile von iNaturalist sind CC BY-NC, eine kommerzielle Weiterverwendung ist ausgeschlossen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Einordnung nach Vorlesung: dateibasierte Speicherung (File Storage) mit relationalem Datenmodell
- Messung: Aggregation auf 5-km-Quadrate 0,01 s gegen 1,13 s, Datenbank 47 MB gegen 273 MB; Einzelmessung auf den Projektdaten
- Rollen: Parquet ist die Ablage (Notebook, Prüfungen und Tests lesen dort), DuckDB die Abfrage-Engine (liest die Roh-CSV, birdreports.duckdb bündelt alle Tabellen für SQL; das Notebook fragt damit ab, welche Arten am häufigsten fehlen)
- Messung ehrlich lesen: Einzelmessung, DuckDB lädt mit eigenem Leser, SQLite über pandas, darum Ladezeiten nur bedingt vergleichbar; der Faktor 100 bei Aggregationen ist der erwartete Unterschied spalten- gegen zeilenorientiert
ABKÜRZUNGEN
- DuckDB = spaltenbasierte (columnar) analytische Datenbank, läuft im Prozess, ohne Server (OLAP)
- SQLite = zeilenbasierte eingebettete Datenbank, für transaktionale Last (OLTP)
- OLAP / OLTP = Online Analytical / Transaction Processing
- Parquet = spaltenbasiertes, komprimiertes Dateiformat
- ACID = Atomicity, Consistency, Isolation, Durability
- CAP = Consistency, Availability, Partition tolerance (bei einem Rechner im Batch irrelevant)
WEITERES / MÖGLICHE RÜCKFRAGEN
- PostgreSQL mit PostGIS nicht gemessen: braucht einen Server, Raumfunktionen nicht nötig, weil die Quadrate aus den LV95-Koordinaten gerechnet werden
- Sharding und Replikation spielen keine Rolle (ein Rechner, Batch, eine Person schreibt)
- Dokumenten-, Graph- und Zeitreihenmodelle brächten bei flachen Meldungen keinen Gewinn
- Grenze der Lösung: weder mehrere gleichzeitige Schreiber noch deutlich grössere Datenmengen, Ausweg wäre Partitionierung nach Jahr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Das Profiling hat die Setzungen belegt: Abdeckung nach letztem Brutjahr bis 1999 8,6 %, 2000–2009 9,8 %, 2010–2019 17,7 %, ab 2020 45,8 %
- Bei älteren Nachweisen ist oft unklar, ob die Art noch dort brütet, darum zählt in der Hauptanalyse nur ab 2020; die Analyse mit allen Nachweisen läuft als Sensitivität mit
- iNaturalist verschleiert Standorte teils, eBird liefert die Ungenauigkeit nicht
ABKÜRZUNGEN
- 10-km-Meldungen = Referenzdatensätze mit Koordinatenungenauigkeit 7'070 m (halbe Diagonale eines 10-km-Quadrats)
- Randquadrate = Quadrate mit weniger als 1'000 Hektaren Landesfläche
- Hash (BLAKE2s mit Salt) = Pseudonymisierung der Beobachterkennung
- taxon_mapping.csv = Zuordnung Artnamen Vogelwarte zu Catalogue of Life
WEITERES / MÖGLICHE RÜCKFRAGEN
- Zahlen: Referenz 129'240 → 86'530 Paare (41'499 mit letztem Brutjahr vor 2020, 1'506 10-km-Meldungen), iNaturalist 2'455 Meldungen über 2'500 m entfernt, Quadrate 1'839 → 1'614 (169 Randquadrate)
- Der Unterschied zwischen 2'500 m und 5'000 m Schwelle ist klein, 5'000 m läuft als Sensitivität
- 16 Artnamen umbenannt, Ficedula parva hat keine Plattformmeldung im Zeitraum
- Rohdaten bleiben unverändert, alle Ergebnisse landen in eigenen Ausgabeordnern
- 45 der 1'614 Quadrate haben weniger als 5 Referenzarten, die Quote ist dort sehr grob
- Datenprüfungen (src/check_outputs.py): u. a. Art/Quadrat-Paare eindeutig, Brutmonate und Ungenauigkeit im erlaubten Bereich, Anteile summieren sich auf 1, Abdeckung zwischen 0 und 1, keine Klarnamen, Treffer aus den bereinigten Tabellen nachgezählt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Karten der 1'614 Quadrate der Hauptanalyse
- Hohe Abdeckung im Mittelland, wo viele Menschen wohnen, niedrige in Alpen und Jura (viel unproduktive Fläche)
- Mittlere Abdeckung: eBird 37,2 %, iNaturalist 5,2 %, Observation.org 5,5 %
ABKÜRZUNGEN
- Abdeckungsquote = Anteil der Arten mit Brutnachweis eines Quadrats, die gemeldet wurden; die Werte sind Mittel über die Quadrate (Anteil über alle Paare: eBird rund 34 %)
- Koordinaten in LV95 (km), Farbe = Anteil von 0 bis 1 (Farbskala viridis)
- Siedlungsanteil und Anteil unproduktiv = Anteil der Hektarpunkte der Arealstatistik im Quadrat
WEITERES / MÖGLICHE RÜCKFRAGEN
- Karte aus dem Notebook, Auswahl der Grösse per Dropdown
- Mittlere Abdeckung aller drei Plattformen: 39,9 %
- Randquadrate unter 1'000 ha sind ausgeschlossen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Spearman-Korrelation: H1 rho = 0,34, gestützt; H2 rho = 0,00, nicht gestützt
- Auffällig: Die Zahl der Meldungen im Quadrat hängt fast perfekt mit der Abdeckung zusammen (rho 0,93)
ABKÜRZUNGEN
- rho = Spearman-Rangkorrelationskoeffizient (−1 bis +1)
- KI = Konfidenzintervall über die Fisher-z-Transformation, Varianz (1 + rho²/2)/(n − 3) nach Bonett &amp; Wright (2000)
- p (Holm) = p-Wert nach Holm-Korrektur über die drei Haupttests
- Hexbin = Streudiagramm mit Wabenzellen, Farbe zeigt die Dichte (log)
WEITERES / MÖGLICHE RÜCKFRAGEN
- Warum Spearman? Rangbasiert, keine Verteilungsannahme, geeignet für Anteile nahe 0
- Holm-p: H1 4,7e-44, H2 0,97 (Hauptanalyse)
- KI: H1 [0,29; 0,38], H2 [−0,05; 0,05]
- Spearman allein sagt nichts über Ursachen: Siedlung und Aufwand hängen zusammen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Modell 3: je Quadrat eine Zeile pro Plattform (eBird, iNaturalist), Plattform wird mit allen Prädiktoren interagiert
- Primärer Test: Interaktionsterm +0,235, bei gleichem plattformeigenem Aufwand steigt die Abdeckung von iNaturalist mit dem Siedlungsanteil, die von eBird sinkt
- Aber: Das hängt an der Spezifikation. Mit gemeinsamem Aufwandskoeffizienten −0,296, ohne Aufwand −0,714; rangbasiert eBird 0,36 und iNaturalist 0,33, also etwa gleich
- Darum: H3 nur in der bedingten Form gestützt, die allgemeine Aussage tragen die Daten nicht
- Bei gleichem Aufwand: iNaturalist +0,117, eBird −0,118, Observation.org −0,026 (kein Effekt)
ABKÜRZUNGEN
- Interaktionsterm = Differenz der Siedlungssteigung zwischen den Plattformen
- OLS = Ordinary Least Squares, lineare Regression
- HC3 = heteroskedastie-robuste Standardfehler (MacKinnon &amp; White, 1985)
- Cluster = Standardfehler nach Quadrat gruppiert (jedes Quadrat kommt zweimal vor)
- KI [0,151; 0,319], Holm-p = 7e-8
WEITERES / MÖGLICHE RÜCKFRAGEN
- Die Abbildung zeigt die unkontrollierten Klassenmittel: ohne Kontrolle steigt eBird absolut viel stärker, das ist Variante C
- Warum alle Prädiktoren interagieren: Nur so darf auch der Aufwand je Plattform unterschiedlich wirken. Begründet, weil die Niveaus (37 % gegen 5 %) sehr verschieden sind; mit gemeinsamem Aufwandskoeffizienten kehrt sich das Vorzeichen um, darum zeigen wir beide
- Lineares Modell ist eine Näherung (Anteile nahe 0), Hauptaussage tragen die Spearman-Tests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FF1: Ja, über den Siedlungsanteil (H1), nicht über die unproduktive Fläche (H2)
- Der Effekt läuft fast vollständig über den Aufwand: R² von 0,13 auf 0,86, Koeffizient Siedlung von +1,20 auf −0,06 (nicht mehr von null verschieden)
- Mehr Siedlung, mehr Meldungen, mehr Abdeckung: vereinbar mit einer Vermittlung über den Aufwand, aber mit Querschnittsdaten nicht von einer gemeinsamen Ursache (Erreichbarkeit) zu unterscheiden; das widerlegt H1 nicht
- Der Zusammenhang Meldungen–Abdeckung ist teilweise mechanisch: mehr Meldungen erfassen zwangsläufig mehr Arten
- FF2: im Niveau klar (eBird 37 % gegen je rund 5 %), im Muster nur bedingt: H3 hält nur mit plattformeigenem Aufwand als Kontrolle
ABKÜRZUNGEN
- R² = Bestimmtheitsmass, Anteil der erklärten Varianz
- Mediator = Variable, über die ein Effekt läuft (kausale Aussage, darum vorsichtig formuliert)
- Modell 1 = nur Landnutzung, Modell 2 = Landnutzung plus Meldungen und Beobachter (logarithmiert)
- n. s. = nicht signifikant
WEITERES / MÖGLICHE RÜCKFRAGEN
- Aufwand nur angenähert: GBIF-eBird enthält keine Checklisten, Ersatzmass sind Zahl der Meldungen und Beobachter
- Unter Kontrolle des Aufwands ist die Abdeckung bei mehr unproduktiver Fläche leicht höher (+0,130), das Gegenteil von H2. Mögliche Erklärung (weniger Arten, die leichter erfasst werden) nicht geprüft
- Siedlungskoeffizient Modell 2: −0,059 [−0,133; 0,015]
- Regressionsergebnisse hängen vom Aufwand-Ersatzmass ab, das eng mit dem Ergebnis verknüpft 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Fazit in einem Satz: Plattformen bilden Brüter dort ab, wo viel gemeldet wird
- Die Aussagen bleiben bei anderem Referenzalter und anderer Koordinatenschwelle gleich
- Ausblick Teil 2: Option B, zwei Klassifikationsmodelle; Zielgrösse ist pro Art und Quadrat, ob die Art gemeldet wurde (ja/nein), darum Klassifikation; danach Diskussion
ABKÜRZUNGEN
- Moran's I = Mass für räumliche Autokorrelation (Residuen Modell 2: 0,113, p = 0,001)
- Option B = Vergleich zweier Klassifikationsmodelle (z. B. logistische Regression und Random Forest), sagt pro Art/Quadrat-Paar voraus, ob die Art gemeldet wird
- Option C (Alternative) = Assistent, der Fragen zu Verbreitung und Abdeckung beantwortet
WEITERES / MÖGLICHE RÜCKFRAGEN
- Grenzen: Referenz nicht unabhängig, Meldung ist kein Brutnachweis, Aufwand nur angenähert, Landnutzung zeitlich versetzt, Raster-Generalisierung auf 5 km
- Räumliche Autokorrelation: p-Werte vorsichtig lesen, Effektstärken mit Konfidenzintervallen tragen die Aussage
- Binomiales Modell mit Zahl der Referenzarten als Nenner wäre für die Quote passender, bewusst für Teil 2 aufgeschoben
- Lizenz: Observation.org und Teile von iNaturalist nur nicht kommerziell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Reservefolie für die Diskussion
- Die Aussagen zu H1, H2 und H3 bleiben in allen drei Läufen gleich; H3 ist in allen Läufen nur mit plattformeigenem Aufwand positiv, ohne Aufwand überall negativ
ABKÜRZUNGEN
- n. s. = nicht signifikant
- Sensitivität = Wiederholung der Analyse mit veränderter Setzung
WEITERES / MÖGLICHE RÜCKFRAGEN
- Hauptanalyse: Nachweise ab 2020, iNaturalist bis 2'500 m; Lauf 2: alle Nachweise; Lauf 3: iNaturalist bis 5'000 m
- Mit allen Nachweisen sinkt die mittlere Abdeckung von 39,9 auf 32,6 %, weil ältere Nachweise häufiger als Lücke erscheinen
- Konfidenzintervalle stehen im README und im Notebook
- Moran's I der Residuen: 0,113 / 0,160 / 0,113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SPRECHPUNKTE
- Reservefolie für die Diskussion zur Skalierbarkeit
- Heute: rund 600'000 bereinigte Meldungen, 1'839 Quadrate, wenige Minuten auf einem Laptop
- Szenarien: 10-mal mehr Daten (weitere Jahre, Nachbarländer; eBird Schweiz wuchs von 49'000 auf 401'000 Meldungen pro Jahr) oder ein 1-km-Raster
- Erste Grenze ist die Transformation in pandas, nicht der Speicher
ABKÜRZUNGEN
- RAM = Arbeitsspeicher
- Partitionierung = Aufteilung der Parquet-Dateien nach einem Schlüssel, z. B. Jahr
WEITERES / MÖGLICHE RÜCKFRAGEN
- Verteilt (Spark) wäre erst bei einem Vielfachen sinnvoll; DuckDB verarbeitet Daten grösser als der Arbeitsspeicher auf einem Rechner
- Der GBIF-Download wird asynchron erzeugt und ist für grosse Abfragen gedacht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880360"/>
            <a:ext cx="49377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Birdreports · Data Engineering HS26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Birdreports</a:t>
            </a:r>
            <a:endParaRPr lang="en-US" sz="4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8803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</a:rPr>
              <a:t>Wie vollständig bilden Citizen-Science-Plattformen die Brutverbreitung der Schweiz ab?</a:t>
            </a:r>
            <a:endParaRPr lang="en-US" sz="2000" dirty="0"/>
          </a:p>
        </p:txBody>
      </p:sp>
      <p:pic>
        <p:nvPicPr>
          <p:cNvPr id="4" name="Image 0" descr="Karte der 5-km-Quadrate mit der Abdeckungsquote aller Plattform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011680"/>
            <a:ext cx="5394960" cy="3135952"/>
          </a:xfrm>
          <a:prstGeom prst="rect">
            <a:avLst/>
          </a:prstGeom>
        </p:spPr>
      </p:pic>
      <p:sp>
        <p:nvSpPr>
          <p:cNvPr id="5" name="Kurs"/>
          <p:cNvSpPr txBox="1"/>
          <p:nvPr/>
        </p:nvSpPr>
        <p:spPr>
          <a:xfrm>
            <a:off x="731520" y="5074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CC7E8"/>
                </a:solidFill>
              </a:rPr>
              <a:t>Data Engineering HS26 · Projektarbeit Teil 1 · Kolloquium 28.10.2026</a:t>
            </a:r>
            <a:endParaRPr lang="en-US" sz="1400" dirty="0"/>
          </a:p>
        </p:txBody>
      </p:sp>
      <p:sp>
        <p:nvSpPr>
          <p:cNvPr id="6" name="Namen"/>
          <p:cNvSpPr txBox="1"/>
          <p:nvPr/>
        </p:nvSpPr>
        <p:spPr>
          <a:xfrm>
            <a:off x="731520" y="5852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Alen Rama, </a:t>
            </a:r>
            <a:r>
              <a:rPr lang="en-US" sz="1400" dirty="0" err="1">
                <a:solidFill>
                  <a:schemeClr val="bg1"/>
                </a:solidFill>
              </a:rPr>
              <a:t>Muriele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Stermcnik</a:t>
            </a:r>
            <a:r>
              <a:rPr lang="en-US" sz="1400" dirty="0">
                <a:solidFill>
                  <a:schemeClr val="bg1"/>
                </a:solidFill>
              </a:rPr>
              <a:t>, Marc Vogelmann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Plattformdaten entstehen dort, wo Menschen sind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7E8"/>
                </a:solidFill>
              </a:rPr>
              <a:t>Teil 1 · Ausgangslage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44805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Quelle"/>
          <p:cNvSpPr txBox="1"/>
          <p:nvPr/>
        </p:nvSpPr>
        <p:spPr>
          <a:xfrm>
            <a:off x="548640" y="5074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Quelle: GBIF, Abfrage vom 13.10.2026. Dazu kommen iNaturalist und Observation.org.</a:t>
            </a:r>
            <a:endParaRPr lang="en-US" sz="1200" dirty="0"/>
          </a:p>
        </p:txBody>
      </p:sp>
      <p:sp>
        <p:nvSpPr>
          <p:cNvPr id="6" name="Feld Ausgangslage Text"/>
          <p:cNvSpPr/>
          <p:nvPr/>
        </p:nvSpPr>
        <p:spPr>
          <a:xfrm>
            <a:off x="5394960" y="1600200"/>
            <a:ext cx="6245352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Ausgangslage Text"/>
          <p:cNvSpPr txBox="1"/>
          <p:nvPr/>
        </p:nvSpPr>
        <p:spPr>
          <a:xfrm>
            <a:off x="5623560" y="1783080"/>
            <a:ext cx="57881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Problem  </a:t>
            </a:r>
            <a:r>
              <a:rPr lang="en-US" sz="1800" dirty="0">
                <a:solidFill>
                  <a:schemeClr val="tx1"/>
                </a:solidFill>
              </a:rPr>
              <a:t>Beobachter melden dort, wo sie hinkommen. Die Meldungen verteilen sich nicht gleichmässig über das Land.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Folge  </a:t>
            </a:r>
            <a:r>
              <a:rPr lang="en-US" sz="1800" dirty="0">
                <a:solidFill>
                  <a:schemeClr val="tx1"/>
                </a:solidFill>
              </a:rPr>
              <a:t>Wer die Daten für Verbreitungskarten, Bestandstrends oder Schutzentscheide nutzt, muss wissen, wo sie verlässlich sind.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Massstab  </a:t>
            </a:r>
            <a:r>
              <a:rPr lang="en-US" sz="1800" dirty="0">
                <a:solidFill>
                  <a:schemeClr val="tx1"/>
                </a:solidFill>
              </a:rPr>
              <a:t>Brutvogeldatenbank der Vogelwarte Sempach: geprüft, pro Art und 5-km-Quadrat. Nicht unabhängig, sie stützt sich auch auf ornitho.ch.</a:t>
            </a:r>
            <a:endParaRPr lang="en-US" sz="1800" dirty="0"/>
          </a:p>
        </p:txBody>
      </p:sp>
      <p:sp>
        <p:nvSpPr>
          <p:cNvPr id="8" name="Lücke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Offen ist, wo die Plattformen die brütenden Arten abbilden und wovon das abhängt.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Forschungsfragen und Hypothesen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7E8"/>
                </a:solidFill>
              </a:rPr>
              <a:t>Teil 1 · Forschungsfragen</a:t>
            </a:r>
            <a:endParaRPr lang="en-US" sz="1200" dirty="0"/>
          </a:p>
        </p:txBody>
      </p:sp>
      <p:sp>
        <p:nvSpPr>
          <p:cNvPr id="4" name="Feld Begriffe"/>
          <p:cNvSpPr/>
          <p:nvPr/>
        </p:nvSpPr>
        <p:spPr>
          <a:xfrm>
            <a:off x="548640" y="1600200"/>
            <a:ext cx="4389120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Begriffe"/>
          <p:cNvSpPr txBox="1"/>
          <p:nvPr/>
        </p:nvSpPr>
        <p:spPr>
          <a:xfrm>
            <a:off x="777240" y="178308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Referenz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Vogelwarte: Brutnachweis pro Art und 5-km-Quadrat, letztes Brutjahr ab 2020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Plattformen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eBird, iNaturalist, Observation.org: Meldung April bis Juli 2020–2024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Abdeckungsquote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Anteil der Arten mit Brutnachweis in einem Quadrat, die eine Plattform dort gemeldet hat. Untersuchungseinheit sind rund 1'600 Quadrate.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600200"/>
          <a:ext cx="6336792" cy="42519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Frage und Hypothese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Hängt die Abdeckungsquote eines Quadrats von seiner Landnutzung ab?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 höher der Siedlungsanteil, desto höher die Abdeckungsquote.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 höher der Anteil unproduktiver Fläche, desto niedriger die Abdeckungsquote.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Unterscheiden sich die Plattformen im Abdeckungsmuster?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Die Abdeckung von iNaturalist hängt stärker vom Siedlungsanteil ab als die von eBird.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Lebenszyklus: Batch und ETL auf einem Rechner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7E8"/>
                </a:solidFill>
              </a:rPr>
              <a:t>Teil 1 · Lebenszyklus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696434"/>
              </p:ext>
            </p:extLst>
          </p:nvPr>
        </p:nvGraphicFramePr>
        <p:xfrm>
          <a:off x="548640" y="1554480"/>
          <a:ext cx="11091670" cy="178308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Generierung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Ingestion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Fünf 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externe Quellen, wir erzeugen keine Daten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GBIF-Download und Archiv der Vogelwarte per Pull, DOI und Prüfsumme im Protokoll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Rohdaten unverändert als Dateien, Parquet als Ablage, DuckDB als Abfrage-Engine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LV95-Raster, Brutzeit, Artabgleich, Hashing, Datenprüfungen, Hypothesentests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 1: Notebook und Präsentation; Teil 2: Option B (Machine Learning)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Feld Unterströmungen"/>
          <p:cNvSpPr/>
          <p:nvPr/>
        </p:nvSpPr>
        <p:spPr>
          <a:xfrm>
            <a:off x="548640" y="356616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Unterströmungen"/>
          <p:cNvSpPr txBox="1"/>
          <p:nvPr/>
        </p:nvSpPr>
        <p:spPr>
          <a:xfrm>
            <a:off x="777240" y="374904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Unterströmungen  </a:t>
            </a:r>
            <a:r>
              <a:rPr lang="en-US" sz="1600" dirty="0">
                <a:solidFill>
                  <a:schemeClr val="tx1"/>
                </a:solidFill>
              </a:rPr>
              <a:t>Security (Beobachter gehasht), Data Management (Taxon-Mapping, DOI), DataOps (Protokoll, Prüfsumme, 35 Datenprüfungen), Orchestration (run_all.sh, Abbruch bei Fehler)</a:t>
            </a:r>
            <a:endParaRPr lang="en-US" sz="1600" dirty="0"/>
          </a:p>
        </p:txBody>
      </p:sp>
      <p:sp>
        <p:nvSpPr>
          <p:cNvPr id="7" name="Feld Entscheid"/>
          <p:cNvSpPr/>
          <p:nvPr/>
        </p:nvSpPr>
        <p:spPr>
          <a:xfrm>
            <a:off x="548640" y="4846320"/>
            <a:ext cx="11091672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Entscheid"/>
          <p:cNvSpPr txBox="1"/>
          <p:nvPr/>
        </p:nvSpPr>
        <p:spPr>
          <a:xfrm>
            <a:off x="777240" y="50292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Wir priorisieren Reproduzierbarkeit, akzeptieren veraltete Daten und begrenzen das Risiko durch versionierte Rohdaten mit Abrufdatum und DOI.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Drei Quellen, ein gemeinsames Raster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7E8"/>
                </a:solidFill>
              </a:rPr>
              <a:t>Teil 2 · Ingestion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200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Quelle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Umfang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Bezug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Plattformen: eBird, iNaturalist, Observation.org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603'123 Meldungen, Schweiz, April bis Juli 2020–2024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GBIF Occurrence Download, DOI 10.15468/dl.9qfxn7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Referenz: Brutvogeldatenbank der Vogelwarte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129'240 Art/Quadrat-Paare, 213 Arten, letztes Brutjahr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Darwin-Core-Archiv ohne Jahresfilter, DOI 10.15468/jujcgr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Landnutzung: Arealstatistik des BFS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4'129'071 Hektarpunkte in vier Hauptklassen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«Aktueller Stand»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Hinweise"/>
          <p:cNvSpPr txBox="1"/>
          <p:nvPr/>
        </p:nvSpPr>
        <p:spPr>
          <a:xfrm>
            <a:off x="548640" y="50749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Die Vogelwarte-Daten kommen separat und ohne Jahresfilter, weil das Jahr dort das letzte Brutjahr ist.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Raster: floor(E/5000) und floor(N/5000) in LV95.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Das Download-Skript schreibt Datum, URL, DOI und SHA-256-Prüfsumme ins Protokoll.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Storage: DuckDB mit Parquet statt SQLite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7E8"/>
                </a:solidFill>
              </a:rPr>
              <a:t>Teil 2 · Storage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3383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023360" y="1554480"/>
          <a:ext cx="3383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Feld Entscheid Text"/>
          <p:cNvSpPr/>
          <p:nvPr/>
        </p:nvSpPr>
        <p:spPr>
          <a:xfrm>
            <a:off x="7772400" y="1600200"/>
            <a:ext cx="3867912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Entscheid Text"/>
          <p:cNvSpPr txBox="1"/>
          <p:nvPr/>
        </p:nvSpPr>
        <p:spPr>
          <a:xfrm>
            <a:off x="8001000" y="1783080"/>
            <a:ext cx="3410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Entscheid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Parquet ist die Ablage, DuckDB die Abfrage-Engine. Wir priorisieren Einfachheit und Reproduzierbarkeit, akzeptieren einen Schreiber und begrenzen das Risiko durch unveränderte Rohdaten.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Kriterien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Spaltenweise Aggregation (OLAP), kein Server, ein Schreiber im Batch: ACID und CAP spielen keine Rolle. PostgreSQL brächte Betrieb ohne Nutzen.</a:t>
            </a:r>
            <a:endParaRPr lang="en-US" sz="1500" dirty="0"/>
          </a:p>
        </p:txBody>
      </p:sp>
      <p:sp>
        <p:nvSpPr>
          <p:cNvPr id="8" name="Messhinweis"/>
          <p:cNvSpPr txBox="1"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Einzelmessung ohne Wiederholung. Ladezeiten nur bedingt vergleichbar (verschiedene Lader), Abfragezeiten schon.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Bereinigung: nur Nachweise ab 2020 zählen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7E8"/>
                </a:solidFill>
              </a:rPr>
              <a:t>Teil 2 · Transformation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57607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eld Regeln"/>
          <p:cNvSpPr/>
          <p:nvPr/>
        </p:nvSpPr>
        <p:spPr>
          <a:xfrm>
            <a:off x="6675120" y="1600200"/>
            <a:ext cx="4965192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Regeln"/>
          <p:cNvSpPr txBox="1"/>
          <p:nvPr/>
        </p:nvSpPr>
        <p:spPr>
          <a:xfrm>
            <a:off x="6903720" y="1783080"/>
            <a:ext cx="450799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Referenz  </a:t>
            </a:r>
            <a:r>
              <a:rPr lang="en-US" sz="1700" dirty="0">
                <a:solidFill>
                  <a:schemeClr val="tx1"/>
                </a:solidFill>
              </a:rPr>
              <a:t>129'240 → 86'530 Paare: nur letztes Brutjahr ab 2020, ohne 10-km-Meldungen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iNaturalist  </a:t>
            </a:r>
            <a:r>
              <a:rPr lang="en-US" sz="1700" dirty="0">
                <a:solidFill>
                  <a:schemeClr val="tx1"/>
                </a:solidFill>
              </a:rPr>
              <a:t>2'455 Meldungen über 2'500 m Ungenauigkeit entfernt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Quadrate  </a:t>
            </a:r>
            <a:r>
              <a:rPr lang="en-US" sz="1700" dirty="0">
                <a:solidFill>
                  <a:schemeClr val="tx1"/>
                </a:solidFill>
              </a:rPr>
              <a:t>1'839 → 1'614: Randquadrate unter 1'000 ha und Quadrate ohne Nachweis entfallen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Datenschutz  </a:t>
            </a:r>
            <a:r>
              <a:rPr lang="en-US" sz="1700" dirty="0">
                <a:solidFill>
                  <a:schemeClr val="tx1"/>
                </a:solidFill>
              </a:rPr>
              <a:t>Beobachter-IDs werden vor dem Speichern gehasht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Prüfungen  </a:t>
            </a:r>
            <a:r>
              <a:rPr lang="en-US" sz="1700" dirty="0">
                <a:solidFill>
                  <a:schemeClr val="tx1"/>
                </a:solidFill>
              </a:rPr>
              <a:t>35 Datenprüfungen nach jedem Lauf (Muster dbt-Tests), Abbruch bei Fehler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Die Abdeckung folgt dem Siedlungsanteil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7E8"/>
                </a:solidFill>
              </a:rPr>
              <a:t>Teil 3 · Ergebnisse</a:t>
            </a:r>
            <a:endParaRPr lang="en-US" sz="1200" dirty="0"/>
          </a:p>
        </p:txBody>
      </p:sp>
      <p:pic>
        <p:nvPicPr>
          <p:cNvPr id="4" name="Image 0" descr="Karte der 5-km-Quadrate: Abdeckung, alle Plattform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3575304" cy="2078233"/>
          </a:xfrm>
          <a:prstGeom prst="rect">
            <a:avLst/>
          </a:prstGeom>
        </p:spPr>
      </p:pic>
      <p:sp>
        <p:nvSpPr>
          <p:cNvPr id="5" name="Karte Label Abdeckung, alle Plattformen"/>
          <p:cNvSpPr txBox="1"/>
          <p:nvPr/>
        </p:nvSpPr>
        <p:spPr>
          <a:xfrm>
            <a:off x="548640" y="3749040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Abdeckung, alle Plattformen</a:t>
            </a:r>
            <a:endParaRPr lang="en-US" sz="1400" dirty="0"/>
          </a:p>
        </p:txBody>
      </p:sp>
      <p:pic>
        <p:nvPicPr>
          <p:cNvPr id="6" name="Image 1" descr="Karte der 5-km-Quadrate: Siedlungsante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1554480"/>
            <a:ext cx="3575304" cy="2078233"/>
          </a:xfrm>
          <a:prstGeom prst="rect">
            <a:avLst/>
          </a:prstGeom>
        </p:spPr>
      </p:pic>
      <p:sp>
        <p:nvSpPr>
          <p:cNvPr id="7" name="Karte Label Siedlungsanteil"/>
          <p:cNvSpPr txBox="1"/>
          <p:nvPr/>
        </p:nvSpPr>
        <p:spPr>
          <a:xfrm>
            <a:off x="4306824" y="3749040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Siedlungsanteil</a:t>
            </a:r>
            <a:endParaRPr lang="en-US" sz="1400" dirty="0"/>
          </a:p>
        </p:txBody>
      </p:sp>
      <p:pic>
        <p:nvPicPr>
          <p:cNvPr id="8" name="Image 2" descr="Karte der 5-km-Quadrate: Anteil unprodukti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1554480"/>
            <a:ext cx="3575304" cy="2078233"/>
          </a:xfrm>
          <a:prstGeom prst="rect">
            <a:avLst/>
          </a:prstGeom>
        </p:spPr>
      </p:pic>
      <p:sp>
        <p:nvSpPr>
          <p:cNvPr id="9" name="Karte Label Anteil unproduktiv"/>
          <p:cNvSpPr txBox="1"/>
          <p:nvPr/>
        </p:nvSpPr>
        <p:spPr>
          <a:xfrm>
            <a:off x="8065008" y="3749040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Anteil unproduktiv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1672" cy="1143000"/>
        </p:xfrm>
        <a:graphic>
          <a:graphicData uri="http://schemas.openxmlformats.org/drawingml/2006/table">
            <a:tbl>
              <a:tblPr/>
              <a:tblGrid>
                <a:gridCol w="4233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Mittlere Abdeckungsquote je Quadrat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iNaturalist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Observation.org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Hauptanalyse, 1'614 Quadrate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37,2 %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5,2 %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5,5 %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H1 ist gestützt, H2 nicht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7E8"/>
                </a:solidFill>
              </a:rPr>
              <a:t>Teil 3 · H1 und H2</a:t>
            </a:r>
            <a:endParaRPr lang="en-US" sz="1200" dirty="0"/>
          </a:p>
        </p:txBody>
      </p:sp>
      <p:pic>
        <p:nvPicPr>
          <p:cNvPr id="4" name="Image 0" descr="Abdeckung gegen Siedlungsanteil, unproduktive Fläche und Aufw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63040"/>
            <a:ext cx="9966960" cy="303710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91672" cy="1517904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Spearman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95 %-KI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 Siedlung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[0,29; 0,38]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gestützt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 unproduktiv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[−0,05; 0,05]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nicht gestützt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Aufwand (Meldungen im Quadrat)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[0,93; 0,94]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perfekter Zusammenhang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H3: nur unter Aufwandskontrolle gestützt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7E8"/>
                </a:solidFill>
              </a:rPr>
              <a:t>Teil 3 · H3</a:t>
            </a:r>
            <a:endParaRPr lang="en-US" sz="1200" dirty="0"/>
          </a:p>
        </p:txBody>
      </p:sp>
      <p:pic>
        <p:nvPicPr>
          <p:cNvPr id="4" name="Image 0" descr="Abdeckung nach Siedlungsanteil für eBird, iNaturalist und Observation.or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669280" cy="3569849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00200"/>
          <a:ext cx="5148072" cy="338023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Interaktion iNaturalist × Siedlung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 [95 %-KI]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 plattformeigenem Aufwand (primärer Test)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+0,235 [0,151; 0,319], Holm-p = 7e-8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Robustheit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Aufwand mit gemeinsamem Koeffizienten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−0,296 [−0,376; −0,215]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ohne Kontrolle des Aufwands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−0,714 [−0,871; −0,557]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Spearman eBird / iNaturalist (ohne Kontrolle)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0,36 / 0,33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Hinweis"/>
          <p:cNvSpPr txBox="1"/>
          <p:nvPr/>
        </p:nvSpPr>
        <p:spPr>
          <a:xfrm>
            <a:off x="548640" y="5212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Die Abbildung zeigt die unkontrollierten Klassenmittel: Ohne Kontrolle steigt eBird stärker an als iNaturalist.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Der Aufwand erklärt fast alles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7E8"/>
                </a:solidFill>
              </a:rPr>
              <a:t>Teil 3 · Antwort</a:t>
            </a:r>
            <a:endParaRPr lang="en-US" sz="1200" dirty="0"/>
          </a:p>
        </p:txBody>
      </p:sp>
      <p:sp>
        <p:nvSpPr>
          <p:cNvPr id="4" name="Feld Antworten"/>
          <p:cNvSpPr/>
          <p:nvPr/>
        </p:nvSpPr>
        <p:spPr>
          <a:xfrm>
            <a:off x="548640" y="1600200"/>
            <a:ext cx="5943600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Antworten"/>
          <p:cNvSpPr txBox="1"/>
          <p:nvPr/>
        </p:nvSpPr>
        <p:spPr>
          <a:xfrm>
            <a:off x="777240" y="178308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FF1 Landnutzung: ja, aber über den Aufwand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Mehr Siedlung, mehr Abdeckung (H1). Unproduktive Fläche zeigt keinen Zusammenhang (H2). Mit Kontrolle des Aufwands verschwindet der Siedlungseffekt.</a:t>
            </a:r>
            <a:endParaRPr lang="en-US" sz="18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FF2 Plattformen: im Niveau ja, im Muster bedingt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eBird erreicht im Mittel 37 % pro Quadrat, iNaturalist und Observation.org je rund 5 %. H3 hält nur mit plattformeigenem Aufwand als Kontrolle.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00200"/>
          <a:ext cx="4873752" cy="1600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Modell 1: Landnutzung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Modell 2: mit Aufwand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Koeffizient Siedlung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−0,06 [−0,13; 0,02]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Feld Mediator"/>
          <p:cNvSpPr/>
          <p:nvPr/>
        </p:nvSpPr>
        <p:spPr>
          <a:xfrm>
            <a:off x="6766560" y="3566160"/>
            <a:ext cx="4873752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Mediator"/>
          <p:cNvSpPr txBox="1"/>
          <p:nvPr/>
        </p:nvSpPr>
        <p:spPr>
          <a:xfrm>
            <a:off x="6995160" y="3749040"/>
            <a:ext cx="4416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Wo mehr Menschen wohnen, wird mehr gemeldet, und mehr Meldungen decken mehr Arten ab. Ob der Aufwand vermittelt oder eine gemeinsame Ursache wie die Erreichbarkeit wirkt, trennen Querschnittsdaten nicht.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Fazit, Grenzen und Ausblick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7E8"/>
                </a:solidFill>
              </a:rPr>
              <a:t>Teil 3 · Fazit</a:t>
            </a:r>
            <a:endParaRPr lang="en-US" sz="1200" dirty="0"/>
          </a:p>
        </p:txBody>
      </p:sp>
      <p:sp>
        <p:nvSpPr>
          <p:cNvPr id="4" name="Feld Spalte Fazit"/>
          <p:cNvSpPr/>
          <p:nvPr/>
        </p:nvSpPr>
        <p:spPr>
          <a:xfrm>
            <a:off x="548640" y="1600200"/>
            <a:ext cx="3575304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palte Fazit"/>
          <p:cNvSpPr txBox="1"/>
          <p:nvPr/>
        </p:nvSpPr>
        <p:spPr>
          <a:xfrm>
            <a:off x="777240" y="1783080"/>
            <a:ext cx="31181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Fazit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Plattformen bilden Brüter dort ab, wo viel gemeldet wird; die Landnutzung erklärt vor allem, wo gemeldet wird. H3 hält nur bedingt. Robust gegenüber Referenzalter und Koordinatenschwelle.</a:t>
            </a:r>
            <a:endParaRPr lang="en-US" sz="1700" dirty="0"/>
          </a:p>
        </p:txBody>
      </p:sp>
      <p:sp>
        <p:nvSpPr>
          <p:cNvPr id="6" name="Feld Spalte Grenzen"/>
          <p:cNvSpPr/>
          <p:nvPr/>
        </p:nvSpPr>
        <p:spPr>
          <a:xfrm>
            <a:off x="4306824" y="1600200"/>
            <a:ext cx="3575304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palte Grenzen"/>
          <p:cNvSpPr txBox="1"/>
          <p:nvPr/>
        </p:nvSpPr>
        <p:spPr>
          <a:xfrm>
            <a:off x="4535424" y="1783080"/>
            <a:ext cx="31181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Grenzen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Referenz nicht unabhängig. Meldung ist kein Brutnachweis. Aufwand nur angenähert. Benachbarte Quadrate sind ähnlich (Moran's I 0,11). H3 hängt an der Modellwahl.</a:t>
            </a:r>
            <a:endParaRPr lang="en-US" sz="1700" dirty="0"/>
          </a:p>
        </p:txBody>
      </p:sp>
      <p:sp>
        <p:nvSpPr>
          <p:cNvPr id="8" name="Feld Spalte Teil 2"/>
          <p:cNvSpPr/>
          <p:nvPr/>
        </p:nvSpPr>
        <p:spPr>
          <a:xfrm>
            <a:off x="8065008" y="1600200"/>
            <a:ext cx="3575304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palte Teil 2"/>
          <p:cNvSpPr txBox="1"/>
          <p:nvPr/>
        </p:nvSpPr>
        <p:spPr>
          <a:xfrm>
            <a:off x="8293608" y="1783080"/>
            <a:ext cx="31181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Teil 2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Option B: zwei Klassifikationsmodelle auf Art/Quadrat-Paaren (gemeldet ja/nein), z. B. logistische Regression und Random Forest. Für die Quote eines Quadrats wäre ein binomiales Modell passender.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Die Aussagen halten bei anderen Setzungen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CC7E8"/>
                </a:solidFill>
              </a:rPr>
              <a:t>Sensitivität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27939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Hauptanalyse (ab 2020, 2'500 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alle Nachweise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iNaturalist bis 5'000 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Quadrate / Referenzpaare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1'614 / 86'530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1'637 / 127'269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1'614 / 86'530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mittlere Abdeckung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32,6 %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 Spearman rho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0,338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0,368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0,339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 Spearman rho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−0,001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−0,001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 Interaktion, primär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+0,235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+0,236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 Interaktion ohne Aufwand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−0,714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−0,656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−0,710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42208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Siedlung in Modell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−0,059 (n. s.)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−0,044 (n. s.)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−0,058 (n. s.)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Moran's I der Residuen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0,113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0,113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3035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Wo die Lösung an Grenzen käme</a:t>
            </a:r>
            <a:endParaRPr lang="en-US" sz="3000" dirty="0"/>
          </a:p>
        </p:txBody>
      </p:sp>
      <p:sp>
        <p:nvSpPr>
          <p:cNvPr id="3" name="Teil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CC7E8"/>
                </a:solidFill>
              </a:rPr>
              <a:t>Skalierbarkeit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3375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trägt heute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Grenze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nächster Schritt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Ingestion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 GBIF-Download, 1,6 Mio. Zeilen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Search-API höchstens 100'000 Treffer pro Abfrage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 skaliert; Fallback teilt nach Datensatz, Jahr, Monat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Parquet und DuckDB auf einem Rechner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 Schreiber, lokale Festplatte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Parquet nach Jahr partitionieren; DuckDB rechnet auch über den RAM hinaus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pandas im Arbeitsspeicher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 bei mehreren Millionen Meldungen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Raster und Aggregation in DuckDB-SQL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1'614 Quadrate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1-km-Raster: 25-mal mehr Quadrate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dünn besetzte Gewichtsmatrix für Moran's I ist umgesetzt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rdreports">
  <a:themeElements>
    <a:clrScheme name="Birdreports">
      <a:dk1>
        <a:srgbClr val="222222"/>
      </a:dk1>
      <a:lt1>
        <a:srgbClr val="FFFFFF"/>
      </a:lt1>
      <a:dk2>
        <a:srgbClr val="0B2A4A"/>
      </a:dk2>
      <a:lt2>
        <a:srgbClr val="F2F2F2"/>
      </a:lt2>
      <a:accent1>
        <a:srgbClr val="0064A6"/>
      </a:accent1>
      <a:accent2>
        <a:srgbClr val="6B7B8C"/>
      </a:accent2>
      <a:accent3>
        <a:srgbClr val="0B2A4A"/>
      </a:accent3>
      <a:accent4>
        <a:srgbClr val="595959"/>
      </a:accent4>
      <a:accent5>
        <a:srgbClr val="B03A2E"/>
      </a:accent5>
      <a:accent6>
        <a:srgbClr val="2E7D5B"/>
      </a:accent6>
      <a:hlink>
        <a:srgbClr val="0064A6"/>
      </a:hlink>
      <a:folHlink>
        <a:srgbClr val="595959"/>
      </a:folHlink>
    </a:clrScheme>
    <a:fontScheme name="Birdrepor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4309</Words>
  <Application>Microsoft Macintosh PowerPoint</Application>
  <PresentationFormat>Breitbild</PresentationFormat>
  <Paragraphs>259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6" baseType="lpstr">
      <vt:lpstr>Arial</vt:lpstr>
      <vt:lpstr>Birdreports</vt:lpstr>
      <vt:lpstr>Birdreports</vt:lpstr>
      <vt:lpstr>Plattformdaten entstehen dort, wo Menschen sind</vt:lpstr>
      <vt:lpstr>Forschungsfragen und Hypothesen</vt:lpstr>
      <vt:lpstr>Lebenszyklus: Batch und ETL auf einem Rechner</vt:lpstr>
      <vt:lpstr>Drei Quellen, ein gemeinsames Raster</vt:lpstr>
      <vt:lpstr>Storage: DuckDB mit Parquet statt SQLite</vt:lpstr>
      <vt:lpstr>Bereinigung: nur Nachweise ab 2020 zählen</vt:lpstr>
      <vt:lpstr>Die Abdeckung folgt dem Siedlungsanteil</vt:lpstr>
      <vt:lpstr>H1 ist gestützt, H2 nicht</vt:lpstr>
      <vt:lpstr>H3: nur unter Aufwandskontrolle gestützt</vt:lpstr>
      <vt:lpstr>Der Aufwand erklärt fast alles</vt:lpstr>
      <vt:lpstr>Fazit, Grenzen und Ausblick</vt:lpstr>
      <vt:lpstr>Die Aussagen halten bei anderen Setzungen</vt:lpstr>
      <vt:lpstr>Wo die Lösung an Grenzen käme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Birdreports: Abdeckung von Citizen-Science-Plattformen (Kolloquium 1)</dc:title>
  <dc:subject>PptxGenJS Presentation</dc:subject>
  <dc:creator>Vogelmann, Stermcnik, Rama</dc:creator>
  <cp:lastModifiedBy>Vogelmann Marc (vogmar04)</cp:lastModifiedBy>
  <cp:revision>6</cp:revision>
  <dcterms:created xsi:type="dcterms:W3CDTF">2026-10-20T13:23:07Z</dcterms:created>
  <dcterms:modified xsi:type="dcterms:W3CDTF">2026-10-27T12:33:50Z</dcterms:modified>
</cp:coreProperties>
</file>